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3"/>
    <p:sldId id="257" r:id="rId4"/>
    <p:sldId id="258" r:id="rId5"/>
    <p:sldId id="259" r:id="rId6"/>
    <p:sldId id="260" r:id="rId7"/>
    <p:sldId id="261" r:id="rId9"/>
    <p:sldId id="262" r:id="rId10"/>
    <p:sldId id="263" r:id="rId11"/>
    <p:sldId id="264" r:id="rId12"/>
    <p:sldId id="266" r:id="rId13"/>
    <p:sldId id="269" r:id="rId14"/>
    <p:sldId id="267" r:id="rId15"/>
    <p:sldId id="268" r:id="rId16"/>
    <p:sldId id="270" r:id="rId17"/>
    <p:sldId id="265" r:id="rId18"/>
  </p:sldIdLst>
  <p:sldSz cx="18288000" cy="10287000"/>
  <p:notesSz cx="6858000" cy="9144000"/>
  <p:embeddedFontLst>
    <p:embeddedFont>
      <p:font typeface="Cambria" panose="02040503050406030204" pitchFamily="18" charset="0"/>
      <p:regular r:id="rId22"/>
      <p:bold r:id="rId23"/>
      <p:italic r:id="rId24"/>
      <p:boldItalic r:id="rId25"/>
    </p:embeddedFont>
    <p:embeddedFont>
      <p:font typeface="Bookman Old Style" panose="02050604050505020204" pitchFamily="18" charset="0"/>
      <p:regular r:id="rId26"/>
      <p:bold r:id="rId27"/>
      <p:italic r:id="rId28"/>
    </p:embeddedFont>
    <p:embeddedFont>
      <p:font typeface="Gotham"/>
      <p:regular r:id="rId29"/>
    </p:embeddedFont>
    <p:embeddedFont>
      <p:font typeface="Gotham Bold Italics" panose="02000000000000000000"/>
      <p:boldItalic r:id="rId30"/>
    </p:embeddedFont>
    <p:embeddedFont>
      <p:font typeface="Calibri" panose="020F0502020204030204"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8"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48" d="100"/>
          <a:sy n="48" d="100"/>
        </p:scale>
        <p:origin x="29" y="77"/>
      </p:cViewPr>
      <p:guideLst>
        <p:guide orient="horz" pos="2088"/>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font" Target="fonts/font13.fntdata"/><Relationship Id="rId33" Type="http://schemas.openxmlformats.org/officeDocument/2006/relationships/font" Target="fonts/font12.fntdata"/><Relationship Id="rId32" Type="http://schemas.openxmlformats.org/officeDocument/2006/relationships/font" Target="fonts/font11.fntdata"/><Relationship Id="rId31" Type="http://schemas.openxmlformats.org/officeDocument/2006/relationships/font" Target="fonts/font10.fntdata"/><Relationship Id="rId30" Type="http://schemas.openxmlformats.org/officeDocument/2006/relationships/font" Target="fonts/font9.fntdata"/><Relationship Id="rId3" Type="http://schemas.openxmlformats.org/officeDocument/2006/relationships/slide" Target="slides/slide1.xml"/><Relationship Id="rId29" Type="http://schemas.openxmlformats.org/officeDocument/2006/relationships/font" Target="fonts/font8.fntdata"/><Relationship Id="rId28" Type="http://schemas.openxmlformats.org/officeDocument/2006/relationships/font" Target="fonts/font7.fntdata"/><Relationship Id="rId27" Type="http://schemas.openxmlformats.org/officeDocument/2006/relationships/font" Target="fonts/font6.fntdata"/><Relationship Id="rId26" Type="http://schemas.openxmlformats.org/officeDocument/2006/relationships/font" Target="fonts/font5.fntdata"/><Relationship Id="rId25" Type="http://schemas.openxmlformats.org/officeDocument/2006/relationships/font" Target="fonts/font4.fntdata"/><Relationship Id="rId24" Type="http://schemas.openxmlformats.org/officeDocument/2006/relationships/font" Target="fonts/font3.fntdata"/><Relationship Id="rId23" Type="http://schemas.openxmlformats.org/officeDocument/2006/relationships/font" Target="fonts/font2.fntdata"/><Relationship Id="rId22" Type="http://schemas.openxmlformats.org/officeDocument/2006/relationships/font" Target="fonts/font1.fntdata"/><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3.sv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3.sv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3.sv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pic>
        <p:nvPicPr>
          <p:cNvPr id="23" name="Picture 22"/>
          <p:cNvPicPr>
            <a:picLocks noChangeAspect="1"/>
          </p:cNvPicPr>
          <p:nvPr/>
        </p:nvPicPr>
        <p:blipFill>
          <a:blip r:embed="rId1"/>
          <a:stretch>
            <a:fillRect/>
          </a:stretch>
        </p:blipFill>
        <p:spPr>
          <a:xfrm>
            <a:off x="6610443" y="196689"/>
            <a:ext cx="4752247" cy="1360611"/>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endParaRPr lang="en-US" sz="3200" b="1" dirty="0">
              <a:latin typeface="Cambria" panose="02040503050406030204" pitchFamily="18" charset="0"/>
              <a:ea typeface="Cambria" panose="02040503050406030204" pitchFamily="18" charset="0"/>
            </a:endParaRPr>
          </a:p>
          <a:p>
            <a:pPr algn="ctr"/>
            <a:r>
              <a:rPr lang="en-US" sz="3600" b="1" dirty="0">
                <a:latin typeface="Cambria" panose="02040503050406030204" pitchFamily="18" charset="0"/>
                <a:ea typeface="Cambria" panose="02040503050406030204" pitchFamily="18" charset="0"/>
              </a:rPr>
              <a:t>School of Computing </a:t>
            </a:r>
            <a:endParaRPr lang="en-US" sz="3600" b="1" dirty="0">
              <a:latin typeface="Cambria" panose="02040503050406030204" pitchFamily="18" charset="0"/>
              <a:ea typeface="Cambria" panose="02040503050406030204" pitchFamily="18" charset="0"/>
            </a:endParaRP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3235"/>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a:t>
            </a:r>
            <a:r>
              <a:rPr lang="en-US" altLang="en-IN" sz="3600" b="1" dirty="0">
                <a:solidFill>
                  <a:srgbClr val="C00000"/>
                </a:solidFill>
                <a:latin typeface="Arial" panose="020B0604020202020204" pitchFamily="34" charset="0"/>
                <a:cs typeface="Arial" panose="020B0604020202020204" pitchFamily="34" charset="0"/>
              </a:rPr>
              <a:t>04</a:t>
            </a:r>
            <a:r>
              <a:rPr lang="en-IN" sz="3600" b="1" dirty="0">
                <a:solidFill>
                  <a:srgbClr val="C00000"/>
                </a:solidFill>
                <a:latin typeface="Arial" panose="020B0604020202020204" pitchFamily="34" charset="0"/>
                <a:cs typeface="Arial" panose="020B0604020202020204" pitchFamily="34" charset="0"/>
              </a:rPr>
              <a:t>-</a:t>
            </a:r>
            <a:r>
              <a:rPr lang="en-US" altLang="en-IN" sz="3600" b="1" dirty="0">
                <a:solidFill>
                  <a:srgbClr val="C00000"/>
                </a:solidFill>
                <a:latin typeface="Arial" panose="020B0604020202020204" pitchFamily="34" charset="0"/>
                <a:cs typeface="Arial" panose="020B0604020202020204" pitchFamily="34" charset="0"/>
              </a:rPr>
              <a:t>03</a:t>
            </a:r>
            <a:r>
              <a:rPr lang="en-IN" sz="3600" b="1" dirty="0">
                <a:solidFill>
                  <a:srgbClr val="C00000"/>
                </a:solidFill>
                <a:latin typeface="Arial" panose="020B0604020202020204" pitchFamily="34" charset="0"/>
                <a:cs typeface="Arial" panose="020B0604020202020204" pitchFamily="34" charset="0"/>
              </a:rPr>
              <a:t>-</a:t>
            </a:r>
            <a:r>
              <a:rPr lang="en-US" altLang="en-IN" sz="3600" b="1" dirty="0">
                <a:solidFill>
                  <a:srgbClr val="C00000"/>
                </a:solidFill>
                <a:latin typeface="Arial" panose="020B0604020202020204" pitchFamily="34" charset="0"/>
                <a:cs typeface="Arial" panose="020B0604020202020204" pitchFamily="34" charset="0"/>
              </a:rPr>
              <a:t>2026</a:t>
            </a:r>
            <a:endParaRPr lang="en-US" altLang="en-IN" sz="3600" b="1" dirty="0">
              <a:solidFill>
                <a:srgbClr val="C00000"/>
              </a:solidFill>
              <a:latin typeface="Arial" panose="020B0604020202020204" pitchFamily="34" charset="0"/>
              <a:cs typeface="Arial" panose="020B0604020202020204" pitchFamily="34" charset="0"/>
            </a:endParaRPr>
          </a:p>
        </p:txBody>
      </p:sp>
      <p:sp>
        <p:nvSpPr>
          <p:cNvPr id="13" name="TextBox 12"/>
          <p:cNvSpPr txBox="1"/>
          <p:nvPr/>
        </p:nvSpPr>
        <p:spPr>
          <a:xfrm>
            <a:off x="1501640" y="6057900"/>
            <a:ext cx="15784162" cy="583565"/>
          </a:xfrm>
          <a:prstGeom prst="rect">
            <a:avLst/>
          </a:prstGeom>
          <a:noFill/>
        </p:spPr>
        <p:txBody>
          <a:bodyPr wrap="square" rtlCol="0">
            <a:spAutoFit/>
          </a:bodyPr>
          <a:lstStyle/>
          <a:p>
            <a:pPr algn="ctr"/>
            <a:r>
              <a:rPr lang="en-US" altLang="en-US" sz="3200" b="1" dirty="0">
                <a:solidFill>
                  <a:srgbClr val="0033CC"/>
                </a:solidFill>
                <a:latin typeface="Times New Roman" panose="02020603050405020304" pitchFamily="18" charset="0"/>
                <a:cs typeface="Times New Roman" panose="02020603050405020304" pitchFamily="18" charset="0"/>
              </a:rPr>
              <a:t>Dynamic Online Examination &amp; Result Processing System</a:t>
            </a:r>
            <a:endParaRPr lang="en-US" altLang="en-US"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93870" y="7800539"/>
            <a:ext cx="9067800" cy="216852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endParaRPr lang="en-US" sz="3000" b="1"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Ch.Venkata Susmitha – </a:t>
            </a:r>
            <a:r>
              <a:rPr lang="en-US" sz="3000" dirty="0" err="1">
                <a:latin typeface="Cambria" panose="02040503050406030204" pitchFamily="18" charset="0"/>
                <a:ea typeface="Cambria" panose="02040503050406030204" pitchFamily="18" charset="0"/>
              </a:rPr>
              <a:t>VTU26480</a:t>
            </a:r>
            <a:r>
              <a:rPr lang="en-US" sz="3000" dirty="0">
                <a:latin typeface="Cambria" panose="02040503050406030204" pitchFamily="18" charset="0"/>
                <a:ea typeface="Cambria" panose="02040503050406030204" pitchFamily="18" charset="0"/>
              </a:rPr>
              <a:t> – </a:t>
            </a:r>
            <a:r>
              <a:rPr lang="en-US" sz="3000" dirty="0" err="1">
                <a:latin typeface="Cambria" panose="02040503050406030204" pitchFamily="18" charset="0"/>
                <a:ea typeface="Cambria" panose="02040503050406030204" pitchFamily="18" charset="0"/>
              </a:rPr>
              <a:t>Reg.No</a:t>
            </a:r>
            <a:r>
              <a:rPr lang="en-US" sz="3000" dirty="0">
                <a:latin typeface="Cambria" panose="02040503050406030204" pitchFamily="18" charset="0"/>
                <a:ea typeface="Cambria" panose="02040503050406030204" pitchFamily="18" charset="0"/>
              </a:rPr>
              <a:t>.23UECS0135</a:t>
            </a: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10945035" y="7818586"/>
            <a:ext cx="6914603" cy="147637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endParaRPr lang="en-US" sz="3000" b="1"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Dr.M.Mageshwari</a:t>
            </a:r>
            <a:endParaRPr lang="en-IN"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1</a:t>
              </a:r>
              <a:endParaRPr lang="en-US" sz="2700">
                <a:solidFill>
                  <a:srgbClr val="FFFEFE"/>
                </a:solidFill>
                <a:latin typeface="Gotham"/>
                <a:ea typeface="Gotham"/>
                <a:cs typeface="Gotham"/>
                <a:sym typeface="Gotham"/>
              </a:endParaRP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2" name="TextBox 1"/>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905000" y="2165985"/>
            <a:ext cx="15826740" cy="7519670"/>
          </a:xfrm>
          <a:prstGeom prst="rect">
            <a:avLst/>
          </a:prstGeom>
          <a:noFill/>
        </p:spPr>
        <p:txBody>
          <a:bodyPr wrap="square" rtlCol="0">
            <a:noAutofit/>
          </a:bodyPr>
          <a:lstStyle/>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Traditional examination systems are time-consuming, paper-based, and prone to human errors in evaluation and result processing.</a:t>
            </a: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Manual correction and result preparation require significant effort and delay the announcement of results.</a:t>
            </a: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There is a need for an automated system that conducts exams efficiently and evaluates answers instantly.</a:t>
            </a: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Dynamic Online Examination &amp; Result Processing System addresses these issues using web-based technology.</a:t>
            </a: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This project is important because it reduces paperwork, saves time, and ensures accurate result calculation.</a:t>
            </a: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It is highly relevant in real-world scenarios such as schools, colleges, competitive exams, and recruitment tests.</a:t>
            </a: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system allows student login, online test participation, automatic score calculation, and answer review.</a:t>
            </a: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Overall, it provides a secure, efficient, and user-friendly digital examination platform.</a:t>
            </a: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endParaRPr lang="en-US" sz="2700">
                <a:solidFill>
                  <a:srgbClr val="FFFEFE"/>
                </a:solidFill>
                <a:latin typeface="Gotham"/>
                <a:ea typeface="Gotham"/>
                <a:cs typeface="Gotham"/>
                <a:sym typeface="Gotham"/>
              </a:endParaRP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1968500" y="1858010"/>
            <a:ext cx="16091535" cy="7673340"/>
          </a:xfrm>
          <a:prstGeom prst="rect">
            <a:avLst/>
          </a:prstGeom>
          <a:noFill/>
        </p:spPr>
        <p:txBody>
          <a:bodyPr wrap="square" rtlCol="0">
            <a:noAutofit/>
          </a:bodyPr>
          <a:lstStyle/>
          <a:p>
            <a:pPr indent="0">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Problem Statement:</a:t>
            </a:r>
            <a:endParaRPr lang="en-US" altLang="en-US" sz="2800"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Dynamic Online Examination &amp; Result Processing System:</a:t>
            </a:r>
            <a:endParaRPr lang="en-US" altLang="en-US" sz="2800" dirty="0">
              <a:latin typeface="Times New Roman" panose="02020603050405020304" pitchFamily="18" charset="0"/>
              <a:cs typeface="Times New Roman" panose="02020603050405020304" pitchFamily="18" charset="0"/>
            </a:endParaRP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In many educational institutions, examinations are still conducted and evaluated manually.</a:t>
            </a:r>
            <a:endParaRPr lang="en-US" altLang="en-US" sz="2800" dirty="0">
              <a:latin typeface="Times New Roman" panose="02020603050405020304" pitchFamily="18" charset="0"/>
              <a:cs typeface="Times New Roman" panose="02020603050405020304" pitchFamily="18" charset="0"/>
            </a:endParaRP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Manual paper correction consumes time and increases the chances of human error.</a:t>
            </a:r>
            <a:endParaRPr lang="en-US" altLang="en-US" sz="2800" dirty="0">
              <a:latin typeface="Times New Roman" panose="02020603050405020304" pitchFamily="18" charset="0"/>
              <a:cs typeface="Times New Roman" panose="02020603050405020304" pitchFamily="18" charset="0"/>
            </a:endParaRP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Preparing results, calculating marks, and analyzing performance require significant effort.</a:t>
            </a:r>
            <a:endParaRPr lang="en-US" altLang="en-US" sz="2800" dirty="0">
              <a:latin typeface="Times New Roman" panose="02020603050405020304" pitchFamily="18" charset="0"/>
              <a:cs typeface="Times New Roman" panose="02020603050405020304" pitchFamily="18" charset="0"/>
            </a:endParaRP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Traditional systems also lack instant feedback for students.</a:t>
            </a:r>
            <a:endParaRPr lang="en-US" altLang="en-US" sz="2800" dirty="0">
              <a:latin typeface="Times New Roman" panose="02020603050405020304" pitchFamily="18" charset="0"/>
              <a:cs typeface="Times New Roman" panose="02020603050405020304" pitchFamily="18" charset="0"/>
            </a:endParaRP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Managing large numbers of students and question papers becomes difficult and inefficient.</a:t>
            </a:r>
            <a:endParaRPr lang="en-US" altLang="en-US" sz="2800" dirty="0">
              <a:latin typeface="Times New Roman" panose="02020603050405020304" pitchFamily="18" charset="0"/>
              <a:cs typeface="Times New Roman" panose="02020603050405020304" pitchFamily="18" charset="0"/>
            </a:endParaRP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There is a need for a secure and automated examination system.</a:t>
            </a:r>
            <a:endParaRPr lang="en-US" altLang="en-US" sz="2800" dirty="0">
              <a:latin typeface="Times New Roman" panose="02020603050405020304" pitchFamily="18" charset="0"/>
              <a:cs typeface="Times New Roman" panose="02020603050405020304" pitchFamily="18" charset="0"/>
            </a:endParaRP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The system should conduct exams, evaluate answers instantly, and generate accurate results.</a:t>
            </a:r>
            <a:endParaRPr lang="en-US" altLang="en-US" sz="2800" dirty="0">
              <a:latin typeface="Times New Roman" panose="02020603050405020304" pitchFamily="18" charset="0"/>
              <a:cs typeface="Times New Roman" panose="02020603050405020304" pitchFamily="18" charset="0"/>
            </a:endParaRP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Therefore, a Dynamic Online Examination &amp; Result Processing System is required to improve efficiency, speed, and accuracy.</a:t>
            </a:r>
            <a:endParaRPr lang="en-US" alt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2" name="TextBox 51"/>
          <p:cNvSpPr txBox="1"/>
          <p:nvPr/>
        </p:nvSpPr>
        <p:spPr>
          <a:xfrm>
            <a:off x="2209800" y="2204720"/>
            <a:ext cx="15082520" cy="4695825"/>
          </a:xfrm>
          <a:prstGeom prst="rect">
            <a:avLst/>
          </a:prstGeom>
          <a:noFill/>
        </p:spPr>
        <p:txBody>
          <a:bodyPr wrap="square" rtlCol="0">
            <a:noAutofit/>
          </a:bodyPr>
          <a:lstStyle/>
          <a:p>
            <a:pPr marL="571500" indent="-571500">
              <a:buFont typeface="Arial" panose="020B0604020202020204" pitchFamily="34" charset="0"/>
              <a:buChar char="•"/>
            </a:pPr>
            <a:r>
              <a:rPr lang="en-US" altLang="en-US" sz="4000" dirty="0">
                <a:latin typeface="Times New Roman" panose="02020603050405020304" pitchFamily="18" charset="0"/>
                <a:cs typeface="Times New Roman" panose="02020603050405020304" pitchFamily="18" charset="0"/>
              </a:rPr>
              <a:t>To design and develop a Dynamic Online Examination System that enables secure student login, online test participation, and automatic result generation.</a:t>
            </a:r>
            <a:endParaRPr lang="en-US" altLang="en-US" sz="4000" dirty="0">
              <a:latin typeface="Times New Roman" panose="02020603050405020304" pitchFamily="18" charset="0"/>
              <a:cs typeface="Times New Roman" panose="02020603050405020304" pitchFamily="18" charset="0"/>
            </a:endParaRPr>
          </a:p>
          <a:p>
            <a:pPr marL="457200" indent="-457200">
              <a:buFontTx/>
              <a:buChar char="-"/>
            </a:pPr>
            <a:endParaRPr lang="en-US" altLang="en-US" sz="40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altLang="en-US" sz="4000" dirty="0">
                <a:latin typeface="Times New Roman" panose="02020603050405020304" pitchFamily="18" charset="0"/>
                <a:cs typeface="Times New Roman" panose="02020603050405020304" pitchFamily="18" charset="0"/>
              </a:rPr>
              <a:t>To implement an automated evaluation mechanism that calculates scores instantly and displays correct answers for performance analysis.</a:t>
            </a:r>
            <a:endParaRPr lang="en-US" altLang="en-US" sz="4000" dirty="0">
              <a:latin typeface="Times New Roman" panose="02020603050405020304" pitchFamily="18" charset="0"/>
              <a:cs typeface="Times New Roman" panose="02020603050405020304" pitchFamily="18" charset="0"/>
            </a:endParaRPr>
          </a:p>
          <a:p>
            <a:pPr marL="457200" indent="-457200">
              <a:buFontTx/>
              <a:buChar char="-"/>
            </a:pPr>
            <a:endParaRPr lang="en-US" sz="40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endParaRPr lang="en-US" sz="2700">
                <a:solidFill>
                  <a:srgbClr val="FFFEFE"/>
                </a:solidFill>
                <a:latin typeface="Gotham"/>
                <a:ea typeface="Gotham"/>
                <a:cs typeface="Gotham"/>
                <a:sym typeface="Gotham"/>
              </a:endParaRP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5"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6" name="TextBox 45"/>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1945005" y="1867535"/>
            <a:ext cx="15347315" cy="8295005"/>
          </a:xfrm>
          <a:prstGeom prst="rect">
            <a:avLst/>
          </a:prstGeom>
          <a:noFill/>
        </p:spPr>
        <p:txBody>
          <a:bodyPr wrap="square" rtlCol="0">
            <a:noAutofit/>
          </a:bodyPr>
          <a:lstStyle/>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proposed system is a web-based Dynamic Online Examination &amp; Result Processing System with secure student login.</a:t>
            </a:r>
            <a:endParaRPr lang="en-US" altLang="en-US" sz="3200" dirty="0">
              <a:latin typeface="Times New Roman" panose="02020603050405020304" pitchFamily="18" charset="0"/>
              <a:cs typeface="Times New Roman" panose="02020603050405020304" pitchFamily="18" charset="0"/>
            </a:endParaRP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It allows students to take exams online and submit answers digitally.</a:t>
            </a:r>
            <a:endParaRPr lang="en-US" altLang="en-US" sz="3200" dirty="0">
              <a:latin typeface="Times New Roman" panose="02020603050405020304" pitchFamily="18" charset="0"/>
              <a:cs typeface="Times New Roman" panose="02020603050405020304" pitchFamily="18" charset="0"/>
            </a:endParaRP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system automatically evaluates responses and generates results instantly.</a:t>
            </a:r>
            <a:endParaRPr lang="en-US" altLang="en-US" sz="3200" dirty="0">
              <a:latin typeface="Times New Roman" panose="02020603050405020304" pitchFamily="18" charset="0"/>
              <a:cs typeface="Times New Roman" panose="02020603050405020304" pitchFamily="18" charset="0"/>
            </a:endParaRP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It eliminates manual paper correction, reducing time and human errors.</a:t>
            </a:r>
            <a:endParaRPr lang="en-US" altLang="en-US" sz="3200" dirty="0">
              <a:latin typeface="Times New Roman" panose="02020603050405020304" pitchFamily="18" charset="0"/>
              <a:cs typeface="Times New Roman" panose="02020603050405020304" pitchFamily="18" charset="0"/>
            </a:endParaRP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system displays wrong answers along with correct answers for better understanding.</a:t>
            </a:r>
            <a:endParaRPr lang="en-US" altLang="en-US" sz="3200" dirty="0">
              <a:latin typeface="Times New Roman" panose="02020603050405020304" pitchFamily="18" charset="0"/>
              <a:cs typeface="Times New Roman" panose="02020603050405020304" pitchFamily="18" charset="0"/>
            </a:endParaRP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It improves efficiency by managing multiple students and questions digitally.</a:t>
            </a:r>
            <a:endParaRPr lang="en-US" altLang="en-US" sz="3200" dirty="0">
              <a:latin typeface="Times New Roman" panose="02020603050405020304" pitchFamily="18" charset="0"/>
              <a:cs typeface="Times New Roman" panose="02020603050405020304" pitchFamily="18" charset="0"/>
            </a:endParaRP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solution ensures accuracy, faster result processing, and easy record maintenance.</a:t>
            </a:r>
            <a:endParaRPr lang="en-US" altLang="en-US" sz="3200" dirty="0">
              <a:latin typeface="Times New Roman" panose="02020603050405020304" pitchFamily="18" charset="0"/>
              <a:cs typeface="Times New Roman" panose="02020603050405020304" pitchFamily="18" charset="0"/>
            </a:endParaRP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Compared to traditional systems, it is cost-effective, time-saving, reliable, and user-friendly.</a:t>
            </a:r>
            <a:endParaRPr lang="en-US" alt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2" name="TextBox 41"/>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Text Box 1"/>
          <p:cNvSpPr txBox="1"/>
          <p:nvPr/>
        </p:nvSpPr>
        <p:spPr>
          <a:xfrm>
            <a:off x="2611120" y="1621790"/>
            <a:ext cx="14144625" cy="7312660"/>
          </a:xfrm>
          <a:prstGeom prst="rect">
            <a:avLst/>
          </a:prstGeom>
          <a:noFill/>
        </p:spPr>
        <p:txBody>
          <a:bodyPr wrap="square" rtlCol="0">
            <a:noAutofit/>
          </a:bodyPr>
          <a:p>
            <a:r>
              <a:rPr lang="en-US" altLang="en-US"/>
              <a:t>          </a:t>
            </a:r>
            <a:endParaRPr lang="en-US"/>
          </a:p>
        </p:txBody>
      </p:sp>
      <p:pic>
        <p:nvPicPr>
          <p:cNvPr id="3" name="Picture 2" descr="ChatGPT Image Mar 2, 2026, 08_30_36 PM"/>
          <p:cNvPicPr>
            <a:picLocks noChangeAspect="1"/>
          </p:cNvPicPr>
          <p:nvPr/>
        </p:nvPicPr>
        <p:blipFill>
          <a:blip r:embed="rId3"/>
          <a:stretch>
            <a:fillRect/>
          </a:stretch>
        </p:blipFill>
        <p:spPr>
          <a:xfrm>
            <a:off x="5715000" y="1362075"/>
            <a:ext cx="6858000" cy="82327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endParaRPr lang="en-US" sz="2700">
                <a:solidFill>
                  <a:srgbClr val="FFFEFE"/>
                </a:solidFill>
                <a:latin typeface="Gotham"/>
                <a:ea typeface="Gotham"/>
                <a:cs typeface="Gotham"/>
                <a:sym typeface="Gotham"/>
              </a:endParaRP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209800" y="1638300"/>
            <a:ext cx="15082325" cy="439991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descr="ChatGPT Image Mar 2, 2026, 08_39_39 PM"/>
          <p:cNvPicPr>
            <a:picLocks noChangeAspect="1"/>
          </p:cNvPicPr>
          <p:nvPr/>
        </p:nvPicPr>
        <p:blipFill>
          <a:blip r:embed="rId3"/>
          <a:stretch>
            <a:fillRect/>
          </a:stretch>
        </p:blipFill>
        <p:spPr>
          <a:xfrm>
            <a:off x="5715000" y="1876425"/>
            <a:ext cx="6858000" cy="79883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endParaRPr lang="en-US" sz="2700">
                <a:solidFill>
                  <a:srgbClr val="FFFEFE"/>
                </a:solidFill>
                <a:latin typeface="Gotham"/>
                <a:ea typeface="Gotham"/>
                <a:cs typeface="Gotham"/>
                <a:sym typeface="Gotham"/>
              </a:endParaRP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1676400" y="1333500"/>
            <a:ext cx="16027400" cy="8604885"/>
          </a:xfrm>
          <a:prstGeom prst="rect">
            <a:avLst/>
          </a:prstGeom>
          <a:noFill/>
        </p:spPr>
        <p:txBody>
          <a:bodyPr wrap="square" rtlCol="0">
            <a:noAutofit/>
          </a:bodyPr>
          <a:lstStyle/>
          <a:p>
            <a:pPr indent="0">
              <a:buFontTx/>
              <a:buNone/>
            </a:pPr>
            <a:r>
              <a:rPr lang="en-US" altLang="en-US" sz="2800" b="1" dirty="0">
                <a:latin typeface="Times New Roman" panose="02020603050405020304" pitchFamily="18" charset="0"/>
                <a:cs typeface="Times New Roman" panose="02020603050405020304" pitchFamily="18" charset="0"/>
              </a:rPr>
              <a:t>Frontend:</a:t>
            </a:r>
            <a:endParaRPr lang="en-US" altLang="en-US" sz="2800" b="1" dirty="0">
              <a:latin typeface="Times New Roman" panose="02020603050405020304" pitchFamily="18" charset="0"/>
              <a:cs typeface="Times New Roman" panose="02020603050405020304" pitchFamily="18" charset="0"/>
            </a:endParaRPr>
          </a:p>
          <a:p>
            <a:pPr indent="0">
              <a:buFontTx/>
              <a:buNone/>
            </a:pPr>
            <a:r>
              <a:rPr lang="en-US" altLang="en-US" sz="2800" dirty="0">
                <a:latin typeface="Times New Roman" panose="02020603050405020304" pitchFamily="18" charset="0"/>
                <a:cs typeface="Times New Roman" panose="02020603050405020304" pitchFamily="18" charset="0"/>
              </a:rPr>
              <a:t>HTML</a:t>
            </a:r>
            <a:endParaRPr lang="en-US" altLang="en-US" sz="2800" dirty="0">
              <a:latin typeface="Times New Roman" panose="02020603050405020304" pitchFamily="18" charset="0"/>
              <a:cs typeface="Times New Roman" panose="02020603050405020304" pitchFamily="18" charset="0"/>
            </a:endParaRPr>
          </a:p>
          <a:p>
            <a:pPr indent="0">
              <a:buFontTx/>
              <a:buNone/>
            </a:pPr>
            <a:r>
              <a:rPr lang="en-US" altLang="en-US" sz="2800" dirty="0">
                <a:latin typeface="Times New Roman" panose="02020603050405020304" pitchFamily="18" charset="0"/>
                <a:cs typeface="Times New Roman" panose="02020603050405020304" pitchFamily="18" charset="0"/>
              </a:rPr>
              <a:t>CSS</a:t>
            </a:r>
            <a:endParaRPr lang="en-US" altLang="en-US" sz="2800" dirty="0">
              <a:latin typeface="Times New Roman" panose="02020603050405020304" pitchFamily="18" charset="0"/>
              <a:cs typeface="Times New Roman" panose="02020603050405020304" pitchFamily="18" charset="0"/>
            </a:endParaRPr>
          </a:p>
          <a:p>
            <a:pPr indent="0">
              <a:buFontTx/>
              <a:buNone/>
            </a:pPr>
            <a:r>
              <a:rPr lang="en-US" altLang="en-US" sz="2800" dirty="0">
                <a:latin typeface="Times New Roman" panose="02020603050405020304" pitchFamily="18" charset="0"/>
                <a:cs typeface="Times New Roman" panose="02020603050405020304" pitchFamily="18" charset="0"/>
              </a:rPr>
              <a:t>JavaScript</a:t>
            </a:r>
            <a:endParaRPr lang="en-US" altLang="en-US" sz="2800" dirty="0">
              <a:latin typeface="Times New Roman" panose="02020603050405020304" pitchFamily="18" charset="0"/>
              <a:cs typeface="Times New Roman" panose="02020603050405020304" pitchFamily="18" charset="0"/>
            </a:endParaRPr>
          </a:p>
          <a:p>
            <a:pPr indent="0">
              <a:buFontTx/>
              <a:buNone/>
            </a:pPr>
            <a:r>
              <a:rPr lang="en-US" altLang="en-US" sz="2800" b="1" dirty="0">
                <a:latin typeface="Times New Roman" panose="02020603050405020304" pitchFamily="18" charset="0"/>
                <a:cs typeface="Times New Roman" panose="02020603050405020304" pitchFamily="18" charset="0"/>
              </a:rPr>
              <a:t>Backend:</a:t>
            </a:r>
            <a:endParaRPr lang="en-US" altLang="en-US" sz="2800" dirty="0">
              <a:latin typeface="Times New Roman" panose="02020603050405020304" pitchFamily="18" charset="0"/>
              <a:cs typeface="Times New Roman" panose="02020603050405020304" pitchFamily="18" charset="0"/>
            </a:endParaRPr>
          </a:p>
          <a:p>
            <a:pPr indent="0">
              <a:buFontTx/>
              <a:buNone/>
            </a:pPr>
            <a:r>
              <a:rPr lang="en-US" altLang="en-US" sz="2800" dirty="0">
                <a:latin typeface="Times New Roman" panose="02020603050405020304" pitchFamily="18" charset="0"/>
                <a:cs typeface="Times New Roman" panose="02020603050405020304" pitchFamily="18" charset="0"/>
              </a:rPr>
              <a:t>JavaScript (for login validation and automatic result evaluation)</a:t>
            </a:r>
            <a:endParaRPr lang="en-US" altLang="en-US" sz="2800" dirty="0">
              <a:latin typeface="Times New Roman" panose="02020603050405020304" pitchFamily="18" charset="0"/>
              <a:cs typeface="Times New Roman" panose="02020603050405020304" pitchFamily="18" charset="0"/>
            </a:endParaRPr>
          </a:p>
          <a:p>
            <a:pPr indent="0">
              <a:buFontTx/>
              <a:buNone/>
            </a:pPr>
            <a:r>
              <a:rPr lang="en-US" altLang="en-US" sz="2800" dirty="0">
                <a:latin typeface="Times New Roman" panose="02020603050405020304" pitchFamily="18" charset="0"/>
                <a:cs typeface="Times New Roman" panose="02020603050405020304" pitchFamily="18" charset="0"/>
              </a:rPr>
              <a:t>(Advanced Version: Python – Flask / PHP)</a:t>
            </a:r>
            <a:endParaRPr lang="en-US" altLang="en-US" sz="2800" dirty="0">
              <a:latin typeface="Times New Roman" panose="02020603050405020304" pitchFamily="18" charset="0"/>
              <a:cs typeface="Times New Roman" panose="02020603050405020304" pitchFamily="18" charset="0"/>
            </a:endParaRPr>
          </a:p>
          <a:p>
            <a:pPr indent="0">
              <a:buFontTx/>
              <a:buNone/>
            </a:pPr>
            <a:r>
              <a:rPr lang="en-US" altLang="en-US" sz="2800" b="1" dirty="0">
                <a:latin typeface="Times New Roman" panose="02020603050405020304" pitchFamily="18" charset="0"/>
                <a:cs typeface="Times New Roman" panose="02020603050405020304" pitchFamily="18" charset="0"/>
              </a:rPr>
              <a:t>Database:</a:t>
            </a:r>
            <a:endParaRPr lang="en-US" altLang="en-US" sz="2800" b="1" dirty="0">
              <a:latin typeface="Times New Roman" panose="02020603050405020304" pitchFamily="18" charset="0"/>
              <a:cs typeface="Times New Roman" panose="02020603050405020304" pitchFamily="18" charset="0"/>
            </a:endParaRPr>
          </a:p>
          <a:p>
            <a:pPr indent="0">
              <a:buFontTx/>
              <a:buNone/>
            </a:pPr>
            <a:r>
              <a:rPr lang="en-US" altLang="en-US" sz="2800" dirty="0">
                <a:latin typeface="Times New Roman" panose="02020603050405020304" pitchFamily="18" charset="0"/>
                <a:cs typeface="Times New Roman" panose="02020603050405020304" pitchFamily="18" charset="0"/>
              </a:rPr>
              <a:t>Browser-based Storage (Arrays / Local Storage)</a:t>
            </a:r>
            <a:endParaRPr lang="en-US" altLang="en-US" sz="2800" dirty="0">
              <a:latin typeface="Times New Roman" panose="02020603050405020304" pitchFamily="18" charset="0"/>
              <a:cs typeface="Times New Roman" panose="02020603050405020304" pitchFamily="18" charset="0"/>
            </a:endParaRPr>
          </a:p>
          <a:p>
            <a:pPr indent="0">
              <a:buFontTx/>
              <a:buNone/>
            </a:pPr>
            <a:r>
              <a:rPr lang="en-US" altLang="en-US" sz="2800" dirty="0">
                <a:latin typeface="Times New Roman" panose="02020603050405020304" pitchFamily="18" charset="0"/>
                <a:cs typeface="Times New Roman" panose="02020603050405020304" pitchFamily="18" charset="0"/>
              </a:rPr>
              <a:t>(Advanced Version: MySQL / SQLite)</a:t>
            </a:r>
            <a:endParaRPr lang="en-US" altLang="en-US" sz="2800" dirty="0">
              <a:latin typeface="Times New Roman" panose="02020603050405020304" pitchFamily="18" charset="0"/>
              <a:cs typeface="Times New Roman" panose="02020603050405020304" pitchFamily="18" charset="0"/>
            </a:endParaRPr>
          </a:p>
          <a:p>
            <a:pPr indent="0">
              <a:buFontTx/>
              <a:buNone/>
            </a:pPr>
            <a:r>
              <a:rPr lang="en-US" altLang="en-US" sz="2800" b="1" dirty="0">
                <a:latin typeface="Times New Roman" panose="02020603050405020304" pitchFamily="18" charset="0"/>
                <a:cs typeface="Times New Roman" panose="02020603050405020304" pitchFamily="18" charset="0"/>
              </a:rPr>
              <a:t>Tools Used:</a:t>
            </a:r>
            <a:endParaRPr lang="en-US" altLang="en-US" sz="2800" b="1" dirty="0">
              <a:latin typeface="Times New Roman" panose="02020603050405020304" pitchFamily="18" charset="0"/>
              <a:cs typeface="Times New Roman" panose="02020603050405020304" pitchFamily="18" charset="0"/>
            </a:endParaRPr>
          </a:p>
          <a:p>
            <a:pPr indent="0">
              <a:buFontTx/>
              <a:buNone/>
            </a:pPr>
            <a:r>
              <a:rPr lang="en-US" altLang="en-US" sz="2800" dirty="0">
                <a:latin typeface="Times New Roman" panose="02020603050405020304" pitchFamily="18" charset="0"/>
                <a:cs typeface="Times New Roman" panose="02020603050405020304" pitchFamily="18" charset="0"/>
              </a:rPr>
              <a:t>Notepad</a:t>
            </a:r>
            <a:endParaRPr lang="en-US" altLang="en-US" sz="2800" dirty="0">
              <a:latin typeface="Times New Roman" panose="02020603050405020304" pitchFamily="18" charset="0"/>
              <a:cs typeface="Times New Roman" panose="02020603050405020304" pitchFamily="18" charset="0"/>
            </a:endParaRPr>
          </a:p>
          <a:p>
            <a:pPr indent="0">
              <a:buFontTx/>
              <a:buNone/>
            </a:pPr>
            <a:r>
              <a:rPr lang="en-US" altLang="en-US" sz="2800" dirty="0">
                <a:latin typeface="Times New Roman" panose="02020603050405020304" pitchFamily="18" charset="0"/>
                <a:cs typeface="Times New Roman" panose="02020603050405020304" pitchFamily="18" charset="0"/>
              </a:rPr>
              <a:t>Web Browser (Google Chrome)</a:t>
            </a:r>
            <a:endParaRPr lang="en-US" altLang="en-US" sz="2800" dirty="0">
              <a:latin typeface="Times New Roman" panose="02020603050405020304" pitchFamily="18" charset="0"/>
              <a:cs typeface="Times New Roman" panose="02020603050405020304" pitchFamily="18" charset="0"/>
            </a:endParaRPr>
          </a:p>
          <a:p>
            <a:pPr indent="0">
              <a:buFontTx/>
              <a:buNone/>
            </a:pPr>
            <a:r>
              <a:rPr lang="en-US" altLang="en-US" sz="2800" b="1" dirty="0">
                <a:latin typeface="Times New Roman" panose="02020603050405020304" pitchFamily="18" charset="0"/>
                <a:cs typeface="Times New Roman" panose="02020603050405020304" pitchFamily="18" charset="0"/>
              </a:rPr>
              <a:t>Hardware Requirements:</a:t>
            </a:r>
            <a:endParaRPr lang="en-US" altLang="en-US" sz="2800" b="1" dirty="0">
              <a:latin typeface="Times New Roman" panose="02020603050405020304" pitchFamily="18" charset="0"/>
              <a:cs typeface="Times New Roman" panose="02020603050405020304" pitchFamily="18" charset="0"/>
            </a:endParaRPr>
          </a:p>
          <a:p>
            <a:pPr indent="0">
              <a:buFontTx/>
              <a:buNone/>
            </a:pPr>
            <a:r>
              <a:rPr lang="en-US" altLang="en-US" sz="2800" dirty="0">
                <a:latin typeface="Times New Roman" panose="02020603050405020304" pitchFamily="18" charset="0"/>
                <a:cs typeface="Times New Roman" panose="02020603050405020304" pitchFamily="18" charset="0"/>
              </a:rPr>
              <a:t>Computer / Laptop</a:t>
            </a:r>
            <a:endParaRPr lang="en-US" altLang="en-US" sz="2800" dirty="0">
              <a:latin typeface="Times New Roman" panose="02020603050405020304" pitchFamily="18" charset="0"/>
              <a:cs typeface="Times New Roman" panose="02020603050405020304" pitchFamily="18" charset="0"/>
            </a:endParaRPr>
          </a:p>
          <a:p>
            <a:pPr indent="0">
              <a:buFontTx/>
              <a:buNone/>
            </a:pPr>
            <a:r>
              <a:rPr lang="en-US" altLang="en-US" sz="2800" dirty="0">
                <a:latin typeface="Times New Roman" panose="02020603050405020304" pitchFamily="18" charset="0"/>
                <a:cs typeface="Times New Roman" panose="02020603050405020304" pitchFamily="18" charset="0"/>
              </a:rPr>
              <a:t>Minimum 4 GB RAM</a:t>
            </a:r>
            <a:endParaRPr lang="en-US" altLang="en-US" sz="2800" dirty="0">
              <a:latin typeface="Times New Roman" panose="02020603050405020304" pitchFamily="18" charset="0"/>
              <a:cs typeface="Times New Roman" panose="02020603050405020304" pitchFamily="18" charset="0"/>
            </a:endParaRPr>
          </a:p>
          <a:p>
            <a:pPr indent="0">
              <a:buFontTx/>
              <a:buNone/>
            </a:pPr>
            <a:r>
              <a:rPr lang="en-US" altLang="en-US" sz="2800" dirty="0">
                <a:latin typeface="Times New Roman" panose="02020603050405020304" pitchFamily="18" charset="0"/>
                <a:cs typeface="Times New Roman" panose="02020603050405020304" pitchFamily="18" charset="0"/>
              </a:rPr>
              <a:t>Internet Connection (for online deployment version)</a:t>
            </a:r>
            <a:endParaRPr lang="en-US" altLang="en-US" sz="2800" dirty="0">
              <a:latin typeface="Times New Roman" panose="02020603050405020304" pitchFamily="18" charset="0"/>
              <a:cs typeface="Times New Roman" panose="02020603050405020304" pitchFamily="18" charset="0"/>
            </a:endParaRPr>
          </a:p>
          <a:p>
            <a:pPr indent="0">
              <a:buFontTx/>
              <a:buNone/>
            </a:pPr>
            <a:r>
              <a:rPr lang="en-US" altLang="en-US" sz="2800" b="1" dirty="0">
                <a:latin typeface="Times New Roman" panose="02020603050405020304" pitchFamily="18" charset="0"/>
                <a:cs typeface="Times New Roman" panose="02020603050405020304" pitchFamily="18" charset="0"/>
              </a:rPr>
              <a:t>Software Requirements:</a:t>
            </a:r>
            <a:endParaRPr lang="en-US" altLang="en-US" sz="2800" b="1" dirty="0">
              <a:latin typeface="Times New Roman" panose="02020603050405020304" pitchFamily="18" charset="0"/>
              <a:cs typeface="Times New Roman" panose="02020603050405020304" pitchFamily="18" charset="0"/>
            </a:endParaRPr>
          </a:p>
          <a:p>
            <a:pPr indent="0">
              <a:buFontTx/>
              <a:buNone/>
            </a:pPr>
            <a:r>
              <a:rPr lang="en-US" altLang="en-US" sz="2800" dirty="0">
                <a:latin typeface="Times New Roman" panose="02020603050405020304" pitchFamily="18" charset="0"/>
                <a:cs typeface="Times New Roman" panose="02020603050405020304" pitchFamily="18" charset="0"/>
              </a:rPr>
              <a:t>Windows, Web Browser</a:t>
            </a:r>
            <a:endParaRPr lang="en-US" altLang="en-US" sz="2800" dirty="0">
              <a:latin typeface="Times New Roman" panose="02020603050405020304" pitchFamily="18" charset="0"/>
              <a:cs typeface="Times New Roman" panose="02020603050405020304" pitchFamily="18" charset="0"/>
            </a:endParaRPr>
          </a:p>
          <a:p>
            <a:pPr indent="0">
              <a:buFontTx/>
              <a:buNone/>
            </a:pPr>
            <a:r>
              <a:rPr lang="en-US" altLang="en-US" sz="2800" dirty="0">
                <a:latin typeface="Times New Roman" panose="02020603050405020304" pitchFamily="18" charset="0"/>
                <a:cs typeface="Times New Roman" panose="02020603050405020304" pitchFamily="18" charset="0"/>
              </a:rPr>
              <a:t>Text Editor (Notepad )</a:t>
            </a: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2148205"/>
            <a:ext cx="15082520" cy="6467475"/>
          </a:xfrm>
          <a:prstGeom prst="rect">
            <a:avLst/>
          </a:prstGeom>
          <a:noFill/>
        </p:spPr>
        <p:txBody>
          <a:bodyPr wrap="square" rtlCol="0">
            <a:noAutofit/>
          </a:bodyPr>
          <a:lstStyle/>
          <a:p>
            <a:r>
              <a:rPr lang="en-US" altLang="en-US" sz="3200" b="1" dirty="0">
                <a:latin typeface="Times New Roman" panose="02020603050405020304" pitchFamily="18" charset="0"/>
                <a:cs typeface="Times New Roman" panose="02020603050405020304" pitchFamily="18" charset="0"/>
              </a:rPr>
              <a:t>Module 1: User Authentication &amp; Login Management</a:t>
            </a:r>
            <a:endParaRPr lang="en-US" altLang="en-US" sz="3200" b="1" dirty="0">
              <a:latin typeface="Times New Roman" panose="02020603050405020304" pitchFamily="18" charset="0"/>
              <a:cs typeface="Times New Roman" panose="02020603050405020304" pitchFamily="18" charset="0"/>
            </a:endParaRPr>
          </a:p>
          <a:p>
            <a:r>
              <a:rPr lang="en-US" altLang="en-US" sz="3200" dirty="0">
                <a:latin typeface="Times New Roman" panose="02020603050405020304" pitchFamily="18" charset="0"/>
                <a:cs typeface="Times New Roman" panose="02020603050405020304" pitchFamily="18" charset="0"/>
              </a:rPr>
              <a:t>Handles secure student login by validating username and password. Controls access to the examination system and ensures only authorized users can take the test.</a:t>
            </a:r>
            <a:endParaRPr lang="en-US" altLang="en-US" sz="3200" dirty="0">
              <a:latin typeface="Times New Roman" panose="02020603050405020304" pitchFamily="18" charset="0"/>
              <a:cs typeface="Times New Roman" panose="02020603050405020304" pitchFamily="18" charset="0"/>
            </a:endParaRPr>
          </a:p>
          <a:p>
            <a:r>
              <a:rPr lang="en-US" altLang="en-US" sz="3200" b="1" dirty="0">
                <a:latin typeface="Times New Roman" panose="02020603050405020304" pitchFamily="18" charset="0"/>
                <a:cs typeface="Times New Roman" panose="02020603050405020304" pitchFamily="18" charset="0"/>
              </a:rPr>
              <a:t>Module 2: Examination Management</a:t>
            </a:r>
            <a:endParaRPr lang="en-US" altLang="en-US" sz="3200" dirty="0">
              <a:latin typeface="Times New Roman" panose="02020603050405020304" pitchFamily="18" charset="0"/>
              <a:cs typeface="Times New Roman" panose="02020603050405020304" pitchFamily="18" charset="0"/>
            </a:endParaRPr>
          </a:p>
          <a:p>
            <a:r>
              <a:rPr lang="en-US" altLang="en-US" sz="3200" dirty="0">
                <a:latin typeface="Times New Roman" panose="02020603050405020304" pitchFamily="18" charset="0"/>
                <a:cs typeface="Times New Roman" panose="02020603050405020304" pitchFamily="18" charset="0"/>
              </a:rPr>
              <a:t>Displays multiple-choice questions dynamically and allows students to select and submit answers within the system interface.</a:t>
            </a:r>
            <a:endParaRPr lang="en-US" altLang="en-US" sz="3200" dirty="0">
              <a:latin typeface="Times New Roman" panose="02020603050405020304" pitchFamily="18" charset="0"/>
              <a:cs typeface="Times New Roman" panose="02020603050405020304" pitchFamily="18" charset="0"/>
            </a:endParaRPr>
          </a:p>
          <a:p>
            <a:r>
              <a:rPr lang="en-US" altLang="en-US" sz="3200" b="1" dirty="0">
                <a:latin typeface="Times New Roman" panose="02020603050405020304" pitchFamily="18" charset="0"/>
                <a:cs typeface="Times New Roman" panose="02020603050405020304" pitchFamily="18" charset="0"/>
              </a:rPr>
              <a:t>Module 3: Evaluation &amp; Result Processing</a:t>
            </a:r>
            <a:endParaRPr lang="en-US" altLang="en-US" sz="3200" dirty="0">
              <a:latin typeface="Times New Roman" panose="02020603050405020304" pitchFamily="18" charset="0"/>
              <a:cs typeface="Times New Roman" panose="02020603050405020304" pitchFamily="18" charset="0"/>
            </a:endParaRPr>
          </a:p>
          <a:p>
            <a:r>
              <a:rPr lang="en-US" altLang="en-US" sz="3200" dirty="0">
                <a:latin typeface="Times New Roman" panose="02020603050405020304" pitchFamily="18" charset="0"/>
                <a:cs typeface="Times New Roman" panose="02020603050405020304" pitchFamily="18" charset="0"/>
              </a:rPr>
              <a:t>Automatically compares student answers with correct answers, calculates total score, identifies wrong/unattempted questions, and generates instant results.</a:t>
            </a:r>
            <a:endParaRPr lang="en-US" altLang="en-US" sz="3200" dirty="0">
              <a:latin typeface="Times New Roman" panose="02020603050405020304" pitchFamily="18" charset="0"/>
              <a:cs typeface="Times New Roman" panose="02020603050405020304" pitchFamily="18" charset="0"/>
            </a:endParaRPr>
          </a:p>
          <a:p>
            <a:r>
              <a:rPr lang="en-US" altLang="en-US" sz="3200" b="1" dirty="0">
                <a:latin typeface="Times New Roman" panose="02020603050405020304" pitchFamily="18" charset="0"/>
                <a:cs typeface="Times New Roman" panose="02020603050405020304" pitchFamily="18" charset="0"/>
              </a:rPr>
              <a:t>Module 4: Data Management &amp; Storage</a:t>
            </a:r>
            <a:endParaRPr lang="en-US" altLang="en-US" sz="3200" dirty="0">
              <a:latin typeface="Times New Roman" panose="02020603050405020304" pitchFamily="18" charset="0"/>
              <a:cs typeface="Times New Roman" panose="02020603050405020304" pitchFamily="18" charset="0"/>
            </a:endParaRPr>
          </a:p>
          <a:p>
            <a:r>
              <a:rPr lang="en-US" altLang="en-US" sz="3200" dirty="0">
                <a:latin typeface="Times New Roman" panose="02020603050405020304" pitchFamily="18" charset="0"/>
                <a:cs typeface="Times New Roman" panose="02020603050405020304" pitchFamily="18" charset="0"/>
              </a:rPr>
              <a:t>Manages question bank, user credentials, and exam results using structured data storage to ensure accuracy and consistency.</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4191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302510" y="1485900"/>
            <a:ext cx="15082520" cy="7537450"/>
          </a:xfrm>
          <a:prstGeom prst="rect">
            <a:avLst/>
          </a:prstGeom>
          <a:noFill/>
        </p:spPr>
        <p:txBody>
          <a:bodyPr wrap="square" rtlCol="0">
            <a:noAutofit/>
          </a:bodyPr>
          <a:lstStyle/>
          <a:p>
            <a:pPr indent="0">
              <a:buFontTx/>
              <a:buNone/>
            </a:pPr>
            <a:r>
              <a:rPr lang="en-US" sz="2800" b="1" dirty="0">
                <a:latin typeface="Times New Roman" panose="02020603050405020304" pitchFamily="18" charset="0"/>
                <a:cs typeface="Times New Roman" panose="02020603050405020304" pitchFamily="18" charset="0"/>
              </a:rPr>
              <a:t>Home page: </a:t>
            </a:r>
            <a:r>
              <a:rPr lang="en-US" altLang="en-US" sz="2800" dirty="0">
                <a:latin typeface="Times New Roman" panose="02020603050405020304" pitchFamily="18" charset="0"/>
                <a:cs typeface="Times New Roman" panose="02020603050405020304" pitchFamily="18" charset="0"/>
              </a:rPr>
              <a:t>The Home Page serves as the welcome interface of the Dynamic Online Examination &amp; Result Processing System. It displays the project title and provides an entry point to access the system. This page introduces users to the platform and ensures a simple navigation flow by directing them to the login page. It creates a user-friendly first impression of the system.</a:t>
            </a:r>
            <a:endParaRPr lang="en-US" alt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descr="Screenshot 2026-03-02 210715"/>
          <p:cNvPicPr>
            <a:picLocks noChangeAspect="1"/>
          </p:cNvPicPr>
          <p:nvPr/>
        </p:nvPicPr>
        <p:blipFill>
          <a:blip r:embed="rId3"/>
          <a:stretch>
            <a:fillRect/>
          </a:stretch>
        </p:blipFill>
        <p:spPr>
          <a:xfrm>
            <a:off x="4572000" y="3543300"/>
            <a:ext cx="9982200" cy="56057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176780" y="1638300"/>
            <a:ext cx="15082520" cy="8421370"/>
          </a:xfrm>
          <a:prstGeom prst="rect">
            <a:avLst/>
          </a:prstGeom>
          <a:noFill/>
        </p:spPr>
        <p:txBody>
          <a:bodyPr wrap="square" rtlCol="0">
            <a:noAutofit/>
          </a:bodyPr>
          <a:lstStyle/>
          <a:p>
            <a:pPr indent="0">
              <a:buFontTx/>
              <a:buNone/>
            </a:pPr>
            <a:r>
              <a:rPr lang="en-US" sz="2800" b="1" dirty="0">
                <a:latin typeface="Times New Roman" panose="02020603050405020304" pitchFamily="18" charset="0"/>
                <a:cs typeface="Times New Roman" panose="02020603050405020304" pitchFamily="18" charset="0"/>
                <a:sym typeface="+mn-ea"/>
              </a:rPr>
              <a:t>Login page</a:t>
            </a:r>
            <a:r>
              <a:rPr lang="en-US" sz="2800" dirty="0">
                <a:sym typeface="+mn-ea"/>
              </a:rPr>
              <a:t>: </a:t>
            </a:r>
            <a:r>
              <a:rPr lang="en-US" altLang="en-US" sz="2800" dirty="0">
                <a:latin typeface="Times New Roman" panose="02020603050405020304" pitchFamily="18" charset="0"/>
                <a:cs typeface="Times New Roman" panose="02020603050405020304" pitchFamily="18" charset="0"/>
              </a:rPr>
              <a:t>The Login Page allows students to securely access the examination system using valid credentials. It verifies the username and password before granting access to the exam. This ensures that only authorized users can participate in the examination. It acts as a basic authentication and security module of the system.</a:t>
            </a:r>
            <a:endParaRPr lang="en-US" altLang="en-US" sz="2800" dirty="0">
              <a:latin typeface="Times New Roman" panose="02020603050405020304" pitchFamily="18" charset="0"/>
              <a:cs typeface="Times New Roman" panose="02020603050405020304" pitchFamily="18" charset="0"/>
            </a:endParaRPr>
          </a:p>
        </p:txBody>
      </p:sp>
      <p:pic>
        <p:nvPicPr>
          <p:cNvPr id="40" name="Picture 39" descr="Screenshot 2026-03-02 211133"/>
          <p:cNvPicPr>
            <a:picLocks noChangeAspect="1"/>
          </p:cNvPicPr>
          <p:nvPr/>
        </p:nvPicPr>
        <p:blipFill>
          <a:blip r:embed="rId3"/>
          <a:stretch>
            <a:fillRect/>
          </a:stretch>
        </p:blipFill>
        <p:spPr>
          <a:xfrm>
            <a:off x="5193665" y="3859530"/>
            <a:ext cx="9048750" cy="45669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302510" y="1638300"/>
            <a:ext cx="15082520" cy="8447405"/>
          </a:xfrm>
          <a:prstGeom prst="rect">
            <a:avLst/>
          </a:prstGeom>
          <a:noFill/>
        </p:spPr>
        <p:txBody>
          <a:bodyPr wrap="square" rtlCol="0">
            <a:noAutofit/>
          </a:bodyPr>
          <a:lstStyle/>
          <a:p>
            <a:pPr indent="0">
              <a:buFontTx/>
              <a:buNone/>
            </a:pPr>
            <a:r>
              <a:rPr lang="en-US" sz="2800" b="1" dirty="0">
                <a:latin typeface="Times New Roman" panose="02020603050405020304" pitchFamily="18" charset="0"/>
                <a:cs typeface="Times New Roman" panose="02020603050405020304" pitchFamily="18" charset="0"/>
                <a:sym typeface="+mn-ea"/>
              </a:rPr>
              <a:t>Main module:</a:t>
            </a:r>
            <a:r>
              <a:rPr lang="en-US" sz="2800" dirty="0">
                <a:latin typeface="Times New Roman" panose="02020603050405020304" pitchFamily="18" charset="0"/>
                <a:cs typeface="Times New Roman" panose="02020603050405020304" pitchFamily="18" charset="0"/>
                <a:sym typeface="+mn-ea"/>
              </a:rPr>
              <a:t> </a:t>
            </a:r>
            <a:r>
              <a:rPr lang="en-US" altLang="en-US" sz="2800" dirty="0">
                <a:latin typeface="Times New Roman" panose="02020603050405020304" pitchFamily="18" charset="0"/>
                <a:cs typeface="Times New Roman" panose="02020603050405020304" pitchFamily="18" charset="0"/>
              </a:rPr>
              <a:t>The Examination Page displays multiple-choice questions dynamically to the student. Users can select answers and submit the exam after completion. The system collects all selected responses and prepares them for automatic evaluation. This module handles the core functionality of conducting the online test.</a:t>
            </a:r>
            <a:endParaRPr lang="en-US" altLang="en-US" sz="2800" dirty="0">
              <a:latin typeface="Times New Roman" panose="02020603050405020304" pitchFamily="18" charset="0"/>
              <a:cs typeface="Times New Roman" panose="02020603050405020304" pitchFamily="18" charset="0"/>
            </a:endParaRPr>
          </a:p>
        </p:txBody>
      </p:sp>
      <p:pic>
        <p:nvPicPr>
          <p:cNvPr id="38" name="Picture 37" descr="Screenshot 2026-03-02 211418"/>
          <p:cNvPicPr>
            <a:picLocks noChangeAspect="1"/>
          </p:cNvPicPr>
          <p:nvPr/>
        </p:nvPicPr>
        <p:blipFill>
          <a:blip r:embed="rId3"/>
          <a:stretch>
            <a:fillRect/>
          </a:stretch>
        </p:blipFill>
        <p:spPr>
          <a:xfrm>
            <a:off x="3352800" y="3656330"/>
            <a:ext cx="5253355" cy="5871845"/>
          </a:xfrm>
          <a:prstGeom prst="rect">
            <a:avLst/>
          </a:prstGeom>
        </p:spPr>
      </p:pic>
      <p:pic>
        <p:nvPicPr>
          <p:cNvPr id="4" name="Picture 3" descr="Screenshot 2026-03-02 211453"/>
          <p:cNvPicPr>
            <a:picLocks noChangeAspect="1"/>
          </p:cNvPicPr>
          <p:nvPr/>
        </p:nvPicPr>
        <p:blipFill>
          <a:blip r:embed="rId4"/>
          <a:stretch>
            <a:fillRect/>
          </a:stretch>
        </p:blipFill>
        <p:spPr>
          <a:xfrm>
            <a:off x="9144000" y="3548380"/>
            <a:ext cx="4669790" cy="59931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714500"/>
            <a:ext cx="15082520" cy="7611110"/>
          </a:xfrm>
          <a:prstGeom prst="rect">
            <a:avLst/>
          </a:prstGeom>
          <a:noFill/>
        </p:spPr>
        <p:txBody>
          <a:bodyPr wrap="square" rtlCol="0">
            <a:noAutofit/>
          </a:bodyPr>
          <a:lstStyle/>
          <a:p>
            <a:pPr indent="0">
              <a:buFontTx/>
              <a:buNone/>
            </a:pPr>
            <a:r>
              <a:rPr lang="en-US" sz="2800" b="1" dirty="0">
                <a:latin typeface="Times New Roman" panose="02020603050405020304" pitchFamily="18" charset="0"/>
                <a:cs typeface="Times New Roman" panose="02020603050405020304" pitchFamily="18" charset="0"/>
                <a:sym typeface="+mn-ea"/>
              </a:rPr>
              <a:t>Output page:</a:t>
            </a:r>
            <a:r>
              <a:rPr lang="en-US" sz="2800" dirty="0">
                <a:latin typeface="Times New Roman" panose="02020603050405020304" pitchFamily="18" charset="0"/>
                <a:cs typeface="Times New Roman" panose="02020603050405020304" pitchFamily="18" charset="0"/>
                <a:sym typeface="+mn-ea"/>
              </a:rPr>
              <a:t> T</a:t>
            </a:r>
            <a:r>
              <a:rPr lang="en-US" altLang="en-US" sz="2800" dirty="0">
                <a:latin typeface="Times New Roman" panose="02020603050405020304" pitchFamily="18" charset="0"/>
                <a:cs typeface="Times New Roman" panose="02020603050405020304" pitchFamily="18" charset="0"/>
              </a:rPr>
              <a:t>he Output Page displays the final score immediately after exam submission. It shows the total marks obtained and highlights wrong or unattempted questions along with correct answers. This provides instant feedback to students and improves transparency in evaluation. It ensures fast, accurate, and automated result processing.</a:t>
            </a:r>
            <a:endParaRPr lang="en-US" altLang="en-US" sz="2800" dirty="0">
              <a:latin typeface="Times New Roman" panose="02020603050405020304" pitchFamily="18" charset="0"/>
              <a:cs typeface="Times New Roman" panose="02020603050405020304" pitchFamily="18" charset="0"/>
            </a:endParaRPr>
          </a:p>
        </p:txBody>
      </p:sp>
      <p:pic>
        <p:nvPicPr>
          <p:cNvPr id="39" name="Picture 38" descr="Screenshot 2026-03-02 211926"/>
          <p:cNvPicPr>
            <a:picLocks noChangeAspect="1"/>
          </p:cNvPicPr>
          <p:nvPr/>
        </p:nvPicPr>
        <p:blipFill>
          <a:blip r:embed="rId3"/>
          <a:stretch>
            <a:fillRect/>
          </a:stretch>
        </p:blipFill>
        <p:spPr>
          <a:xfrm>
            <a:off x="5791200" y="3771900"/>
            <a:ext cx="7688580" cy="53384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2" name="TextBox 1"/>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1958340" y="1587500"/>
            <a:ext cx="12503150" cy="6922770"/>
          </a:xfrm>
          <a:prstGeom prst="rect">
            <a:avLst/>
          </a:prstGeom>
          <a:noFill/>
        </p:spPr>
        <p:txBody>
          <a:bodyPr wrap="square" rtlCol="0">
            <a:noAutofit/>
          </a:bodyPr>
          <a:p>
            <a:r>
              <a:rPr lang="en-US" altLang="en-US" sz="2800" b="1">
                <a:latin typeface="Times New Roman" panose="02020603050405020304" pitchFamily="18" charset="0"/>
                <a:cs typeface="Times New Roman" panose="02020603050405020304" pitchFamily="18" charset="0"/>
              </a:rPr>
              <a:t>Advantages:</a:t>
            </a:r>
            <a:endParaRPr lang="en-US" altLang="en-US" sz="2800" b="1">
              <a:latin typeface="Times New Roman" panose="02020603050405020304" pitchFamily="18" charset="0"/>
              <a:cs typeface="Times New Roman" panose="02020603050405020304" pitchFamily="18" charset="0"/>
            </a:endParaRPr>
          </a:p>
          <a:p>
            <a:endParaRPr lang="en-US" altLang="en-US" sz="2800" b="1">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Provides instant and automatic result generation.</a:t>
            </a:r>
            <a:endParaRPr lang="en-US" alt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Reduces human errors in evaluation.</a:t>
            </a:r>
            <a:endParaRPr lang="en-US" alt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Saves time and paper compared to traditional exams.</a:t>
            </a:r>
            <a:endParaRPr lang="en-US" alt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Easy to use and user-friendly interface.</a:t>
            </a:r>
            <a:endParaRPr lang="en-US" alt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Displays correct answers for better student feedback.</a:t>
            </a:r>
            <a:endParaRPr lang="en-US" altLang="en-US" sz="2800">
              <a:latin typeface="Times New Roman" panose="02020603050405020304" pitchFamily="18" charset="0"/>
              <a:cs typeface="Times New Roman" panose="02020603050405020304" pitchFamily="18" charset="0"/>
            </a:endParaRPr>
          </a:p>
          <a:p>
            <a:endParaRPr lang="en-US" altLang="en-US" sz="2800">
              <a:latin typeface="Times New Roman" panose="02020603050405020304" pitchFamily="18" charset="0"/>
              <a:cs typeface="Times New Roman" panose="02020603050405020304" pitchFamily="18" charset="0"/>
            </a:endParaRPr>
          </a:p>
          <a:p>
            <a:r>
              <a:rPr lang="en-US" altLang="en-US" sz="2800" b="1">
                <a:latin typeface="Times New Roman" panose="02020603050405020304" pitchFamily="18" charset="0"/>
                <a:cs typeface="Times New Roman" panose="02020603050405020304" pitchFamily="18" charset="0"/>
              </a:rPr>
              <a:t>Limitations:</a:t>
            </a:r>
            <a:endParaRPr lang="en-US" altLang="en-US" sz="2800" b="1">
              <a:latin typeface="Times New Roman" panose="02020603050405020304" pitchFamily="18" charset="0"/>
              <a:cs typeface="Times New Roman" panose="02020603050405020304" pitchFamily="18" charset="0"/>
            </a:endParaRPr>
          </a:p>
          <a:p>
            <a:endParaRPr lang="en-US" altLang="en-US" sz="2800" b="1">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Requires a computer or digital device to access.</a:t>
            </a:r>
            <a:endParaRPr lang="en-US" alt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Basic version does not store results permanently.</a:t>
            </a:r>
            <a:endParaRPr lang="en-US" alt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Limited security compared to advanced systems.</a:t>
            </a:r>
            <a:endParaRPr lang="en-US" alt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Depends on internet connection for online use.</a:t>
            </a:r>
            <a:endParaRPr lang="en-US" altLang="en-US" sz="28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Supports only objective-type (MCQ) questions.</a:t>
            </a:r>
            <a:endParaRPr 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endPar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endParaRP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6451</Words>
  <Application>WPS Presentation</Application>
  <PresentationFormat>Custom</PresentationFormat>
  <Paragraphs>456</Paragraphs>
  <Slides>15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Arial</vt:lpstr>
      <vt:lpstr>SimSun</vt:lpstr>
      <vt:lpstr>Wingdings</vt:lpstr>
      <vt:lpstr>Cambria</vt:lpstr>
      <vt:lpstr>Bookman Old Style</vt:lpstr>
      <vt:lpstr>Times New Roman</vt:lpstr>
      <vt:lpstr>Gotham</vt:lpstr>
      <vt:lpstr>Gotham Bold Italics</vt:lpstr>
      <vt:lpstr>Calibri</vt:lpstr>
      <vt:lpstr>Microsoft YaHei</vt:lpstr>
      <vt:lpstr>Arial Unicode MS</vt:lpstr>
      <vt:lpstr>Arial Black</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
  <cp:lastModifiedBy>Ch. Venkata susmitha</cp:lastModifiedBy>
  <cp:revision>11</cp:revision>
  <dcterms:created xsi:type="dcterms:W3CDTF">2006-08-16T00:00:00Z</dcterms:created>
  <dcterms:modified xsi:type="dcterms:W3CDTF">2026-03-02T16:05:31Z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310F0D1AB3094D1DB4D483054F489893_13</vt:lpwstr>
  </property>
  <property fmtid="{D5CDD505-2E9C-101B-9397-08002B2CF9AE}" pid="3" name="KSOProductBuildVer">
    <vt:lpwstr>1033-12.2.0.23196</vt:lpwstr>
  </property>
</Properties>
</file>